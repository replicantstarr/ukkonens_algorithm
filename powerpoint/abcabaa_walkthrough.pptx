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state. The tree is only the root R. The index, the remainder and the active length all start at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2.i: new leaf under a at the root. No edge from the root starts with "a", so a new leaf is added there. Its range ends at the shared index i, so it grows automatically (Rule 1). The remainder was 0, so the index advances to 1. The active point resets to the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2.i: new leaf under b at the root. No edge from the root starts with "b", so a new leaf is added there. Its range ends at the shared index i, so it grows automatically (Rule 1). The remainder was 0, so the index advances to 2. The active point resets to the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2.i: new leaf under c at the root. No edge from the root starts with "c", so a new leaf is added there. Its range ends at the shared index i, so it grows automatically (Rule 1). The remainder was 0, so the index advances to 3. The active point resets to the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a already follows, so defer the insertion. "a" already follows at the active point, so this suffix is already in the tree implicitly. The insertion is deferred. The remainder and the active length each rise by one, and the index advances to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b already follows, so defer the insertion. "b" already follows at the active point, so this suffix is already in the tree implicitly. The insertion is deferred. The remainder and the active length each rise by one, and the index advances to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2.ii: split leaf edge abcab after 2 characters, since c ≠ a. The edge "abcab" matches for 2 characters, then has "c" where the next character is "a". The edge is cut at that point. The lower part keeps the old end, so it is still a leaf. A new leaf is added for "a". The remainder was 2, so it drops to 1 and the index stays at 5. The new leaf is empty (ε) until the index advances. The active point resets to the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2.ii: split leaf edge bcab after 1 character, since c ≠ a. The edge "bcab" matches for 1 character, then has "c" where the next character is "a". The edge is cut at that point. The lower part keeps the old end, so it is still a leaf. A new leaf is added for "a". The remainder was 1, so it drops to 0 and the index stays at 5. The new leaf is empty (ε) until the index advances. The active point resets to the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a already follows, so defer the insertion. "a" already follows at the active point, so this suffix is already in the tree implicitly. The insertion is deferred. The remainder and the active length each rise by one, and the index advances to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2.ii: split internal edge ab after 1 character, since b ≠ a. The edge "ab" matches for 1 character, then has "b" where the next character is "a". The edge is cut at that point. The lower part keeps the old end and takes the old children. A new leaf is added for "a". The remainder was 1, so it drops to 0 and the index stays at 6. The new leaf is empty (ε) until the index advances. The active point resets to the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a already follows, so defer the insertion. "a" already follows at the active point, so this suffix is already in the tree implicitly. The insertion is deferred. The remainder and the active length each rise by one, and the index advances to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edge a is not longer than l, so move below it. The active length l = 1 reaches the end of edge "a", so the active parent moves below it. The active length drops by the edge's length. Nothing is added to the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2.i: new leaf under $ at an internal node. No edge from the node for "a" starts with "$", so a new leaf is added there. Its range ends at the shared index i, so it grows automatically (Rule 1). The remainder was 1, so it drops to 0 and the index stays at 7. The new leaf is empty (ε) until the index advances. The active point resets to the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2.i: new leaf under $ at the root. No edge from the root starts with "$", so a new leaf is added there. Its range ends at the shared index i, so it grows automatically (Rule 1). The remainder was 0, so the index advances to 8. The active point resets to the root. Every suffix of abcabaa$ now ends at its own leaf.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7"/>
        </a:solidFill>
      </p:bgPr>
    </p:bg>
    <p:spTree>
      <p:nvGrpSpPr>
        <p:cNvPr id="1" name=""/>
        <p:cNvGrpSpPr/>
        <p:nvPr/>
      </p:nvGrpSpPr>
      <p:grpSpPr>
        <a:xfrm>
          <a:off x="0" y="0"/>
          <a:ext cx="0" cy="0"/>
          <a:chOff x="0" y="0"/>
          <a:chExt cx="0" cy="0"/>
        </a:xfrm>
      </p:grpSpPr>
      <p:sp>
        <p:nvSpPr>
          <p:cNvPr id="2" name="Text 0"/>
          <p:cNvSpPr txBox="1"/>
          <p:nvPr/>
        </p:nvSpPr>
        <p:spPr>
          <a:xfrm>
            <a:off x="640080" y="1188720"/>
            <a:ext cx="6583680" cy="14630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Ukkonen's algorithm, step by step</a:t>
            </a:r>
            <a:endParaRPr lang="en-US" sz="4000" dirty="0"/>
          </a:p>
        </p:txBody>
      </p:sp>
      <p:sp>
        <p:nvSpPr>
          <p:cNvPr id="3" name="Text 1"/>
          <p:cNvSpPr txBox="1"/>
          <p:nvPr/>
        </p:nvSpPr>
        <p:spPr>
          <a:xfrm>
            <a:off x="640080" y="2788920"/>
            <a:ext cx="6583680" cy="457200"/>
          </a:xfrm>
          <a:prstGeom prst="rect">
            <a:avLst/>
          </a:prstGeom>
          <a:noFill/>
          <a:ln/>
        </p:spPr>
        <p:txBody>
          <a:bodyPr wrap="square" lIns="0" tIns="0" rIns="0" bIns="0" rtlCol="0" anchor="ctr"/>
          <a:lstStyle/>
          <a:p>
            <a:pPr indent="0" marL="0">
              <a:buNone/>
            </a:pPr>
            <a:r>
              <a:rPr lang="en-US" sz="2000" dirty="0">
                <a:solidFill>
                  <a:srgbClr val="C9CED8"/>
                </a:solidFill>
                <a:latin typeface="Calibri" pitchFamily="34" charset="0"/>
                <a:ea typeface="Calibri" pitchFamily="34" charset="-122"/>
                <a:cs typeface="Calibri" pitchFamily="34" charset="-120"/>
              </a:rPr>
              <a:t>Building the suffix tree of </a:t>
            </a:r>
            <a:pPr indent="0" marL="0">
              <a:buNone/>
            </a:pPr>
            <a:r>
              <a:rPr lang="en-US" sz="2000" b="1" dirty="0">
                <a:solidFill>
                  <a:srgbClr val="FFFFFF"/>
                </a:solidFill>
                <a:latin typeface="Courier New" pitchFamily="34" charset="0"/>
                <a:ea typeface="Courier New" pitchFamily="34" charset="-122"/>
                <a:cs typeface="Courier New" pitchFamily="34" charset="-120"/>
              </a:rPr>
              <a:t>abcabaa$</a:t>
            </a:r>
            <a:endParaRPr lang="en-US" sz="2000" dirty="0"/>
          </a:p>
        </p:txBody>
      </p:sp>
      <p:sp>
        <p:nvSpPr>
          <p:cNvPr id="4" name="Text 2"/>
          <p:cNvSpPr txBox="1"/>
          <p:nvPr/>
        </p:nvSpPr>
        <p:spPr>
          <a:xfrm>
            <a:off x="640080" y="3337560"/>
            <a:ext cx="6583680" cy="365760"/>
          </a:xfrm>
          <a:prstGeom prst="rect">
            <a:avLst/>
          </a:prstGeom>
          <a:noFill/>
          <a:ln/>
        </p:spPr>
        <p:txBody>
          <a:bodyPr wrap="square" lIns="0" tIns="0" rIns="0" bIns="0" rtlCol="0" anchor="ctr"/>
          <a:lstStyle/>
          <a:p>
            <a:pPr indent="0" marL="0">
              <a:buNone/>
            </a:pPr>
            <a:r>
              <a:rPr lang="en-US" sz="1400" dirty="0">
                <a:solidFill>
                  <a:srgbClr val="9AA3B2"/>
                </a:solidFill>
                <a:latin typeface="Calibri" pitchFamily="34" charset="0"/>
                <a:ea typeface="Calibri" pitchFamily="34" charset="-122"/>
                <a:cs typeface="Calibri" pitchFamily="34" charset="-120"/>
              </a:rPr>
              <a:t>One slide per iteration of the main loop, 13 operations in total.</a:t>
            </a:r>
            <a:endParaRPr lang="en-US" sz="1400" dirty="0"/>
          </a:p>
        </p:txBody>
      </p:sp>
      <p:sp>
        <p:nvSpPr>
          <p:cNvPr id="5" name="Shape 3"/>
          <p:cNvSpPr/>
          <p:nvPr/>
        </p:nvSpPr>
        <p:spPr>
          <a:xfrm>
            <a:off x="7818120" y="1188720"/>
            <a:ext cx="3749040" cy="4480560"/>
          </a:xfrm>
          <a:prstGeom prst="roundRect">
            <a:avLst>
              <a:gd name="adj" fmla="val 1951"/>
            </a:avLst>
          </a:prstGeom>
          <a:solidFill>
            <a:srgbClr val="2A303B"/>
          </a:solidFill>
          <a:ln w="12700">
            <a:solidFill>
              <a:srgbClr val="2A303B"/>
            </a:solidFill>
            <a:prstDash val="solid"/>
          </a:ln>
        </p:spPr>
      </p:sp>
      <p:sp>
        <p:nvSpPr>
          <p:cNvPr id="6" name="Text 4"/>
          <p:cNvSpPr txBox="1"/>
          <p:nvPr/>
        </p:nvSpPr>
        <p:spPr>
          <a:xfrm>
            <a:off x="8092440" y="1417320"/>
            <a:ext cx="32004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Reading the diagrams</a:t>
            </a:r>
            <a:endParaRPr lang="en-US" sz="1800" dirty="0"/>
          </a:p>
        </p:txBody>
      </p:sp>
      <p:sp>
        <p:nvSpPr>
          <p:cNvPr id="7" name="Shape 5"/>
          <p:cNvSpPr/>
          <p:nvPr/>
        </p:nvSpPr>
        <p:spPr>
          <a:xfrm>
            <a:off x="8092440" y="2066544"/>
            <a:ext cx="201168" cy="201168"/>
          </a:xfrm>
          <a:prstGeom prst="ellipse">
            <a:avLst/>
          </a:prstGeom>
          <a:solidFill>
            <a:srgbClr val="E0524F"/>
          </a:solidFill>
          <a:ln w="12700">
            <a:solidFill>
              <a:srgbClr val="E0524F"/>
            </a:solidFill>
            <a:prstDash val="solid"/>
          </a:ln>
        </p:spPr>
      </p:sp>
      <p:sp>
        <p:nvSpPr>
          <p:cNvPr id="8" name="Text 6"/>
          <p:cNvSpPr txBox="1"/>
          <p:nvPr/>
        </p:nvSpPr>
        <p:spPr>
          <a:xfrm>
            <a:off x="8412480" y="2011680"/>
            <a:ext cx="28803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Red  </a:t>
            </a:r>
            <a:pPr indent="0" marL="0">
              <a:buNone/>
            </a:pPr>
            <a:r>
              <a:rPr lang="en-US" sz="1300" dirty="0">
                <a:solidFill>
                  <a:srgbClr val="C9CED8"/>
                </a:solidFill>
                <a:latin typeface="Calibri" pitchFamily="34" charset="0"/>
                <a:ea typeface="Calibri" pitchFamily="34" charset="-122"/>
                <a:cs typeface="Calibri" pitchFamily="34" charset="-120"/>
              </a:rPr>
              <a:t>nodes created in this step</a:t>
            </a:r>
            <a:endParaRPr lang="en-US" sz="1300" dirty="0"/>
          </a:p>
        </p:txBody>
      </p:sp>
      <p:sp>
        <p:nvSpPr>
          <p:cNvPr id="9" name="Shape 7"/>
          <p:cNvSpPr/>
          <p:nvPr/>
        </p:nvSpPr>
        <p:spPr>
          <a:xfrm>
            <a:off x="8092440" y="2523744"/>
            <a:ext cx="201168" cy="201168"/>
          </a:xfrm>
          <a:prstGeom prst="ellipse">
            <a:avLst/>
          </a:prstGeom>
          <a:solidFill>
            <a:srgbClr val="F08C3A"/>
          </a:solidFill>
          <a:ln w="12700">
            <a:solidFill>
              <a:srgbClr val="F08C3A"/>
            </a:solidFill>
            <a:prstDash val="solid"/>
          </a:ln>
        </p:spPr>
      </p:sp>
      <p:sp>
        <p:nvSpPr>
          <p:cNvPr id="10" name="Text 8"/>
          <p:cNvSpPr txBox="1"/>
          <p:nvPr/>
        </p:nvSpPr>
        <p:spPr>
          <a:xfrm>
            <a:off x="8412480" y="2468880"/>
            <a:ext cx="28803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Orange  </a:t>
            </a:r>
            <a:pPr indent="0" marL="0">
              <a:buNone/>
            </a:pPr>
            <a:r>
              <a:rPr lang="en-US" sz="1300" dirty="0">
                <a:solidFill>
                  <a:srgbClr val="C9CED8"/>
                </a:solidFill>
                <a:latin typeface="Calibri" pitchFamily="34" charset="0"/>
                <a:ea typeface="Calibri" pitchFamily="34" charset="-122"/>
                <a:cs typeface="Calibri" pitchFamily="34" charset="-120"/>
              </a:rPr>
              <a:t>edge shortened by a split</a:t>
            </a:r>
            <a:endParaRPr lang="en-US" sz="1300" dirty="0"/>
          </a:p>
        </p:txBody>
      </p:sp>
      <p:sp>
        <p:nvSpPr>
          <p:cNvPr id="11" name="Shape 9"/>
          <p:cNvSpPr/>
          <p:nvPr/>
        </p:nvSpPr>
        <p:spPr>
          <a:xfrm>
            <a:off x="8092440" y="2980944"/>
            <a:ext cx="201168" cy="201168"/>
          </a:xfrm>
          <a:prstGeom prst="ellipse">
            <a:avLst/>
          </a:prstGeom>
          <a:solidFill>
            <a:srgbClr val="7C93F0"/>
          </a:solidFill>
          <a:ln w="12700">
            <a:solidFill>
              <a:srgbClr val="7C93F0"/>
            </a:solidFill>
            <a:prstDash val="solid"/>
          </a:ln>
        </p:spPr>
      </p:sp>
      <p:sp>
        <p:nvSpPr>
          <p:cNvPr id="12" name="Text 10"/>
          <p:cNvSpPr txBox="1"/>
          <p:nvPr/>
        </p:nvSpPr>
        <p:spPr>
          <a:xfrm>
            <a:off x="8412480" y="2926080"/>
            <a:ext cx="28803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Blue  </a:t>
            </a:r>
            <a:pPr indent="0" marL="0">
              <a:buNone/>
            </a:pPr>
            <a:r>
              <a:rPr lang="en-US" sz="1300" dirty="0">
                <a:solidFill>
                  <a:srgbClr val="C9CED8"/>
                </a:solidFill>
                <a:latin typeface="Calibri" pitchFamily="34" charset="0"/>
                <a:ea typeface="Calibri" pitchFamily="34" charset="-122"/>
                <a:cs typeface="Calibri" pitchFamily="34" charset="-120"/>
              </a:rPr>
              <a:t>active parent and active edge</a:t>
            </a:r>
            <a:endParaRPr lang="en-US" sz="1300" dirty="0"/>
          </a:p>
        </p:txBody>
      </p:sp>
      <p:sp>
        <p:nvSpPr>
          <p:cNvPr id="13" name="Text 11"/>
          <p:cNvSpPr txBox="1"/>
          <p:nvPr/>
        </p:nvSpPr>
        <p:spPr>
          <a:xfrm>
            <a:off x="8092440" y="3474720"/>
            <a:ext cx="3200400" cy="2011680"/>
          </a:xfrm>
          <a:prstGeom prst="rect">
            <a:avLst/>
          </a:prstGeom>
          <a:noFill/>
          <a:ln/>
        </p:spPr>
        <p:txBody>
          <a:bodyPr wrap="square" lIns="0" tIns="0" rIns="0" bIns="0" rtlCol="0" anchor="t"/>
          <a:lstStyle/>
          <a:p>
            <a:pPr indent="0" marL="0">
              <a:spcAft>
                <a:spcPts val="800"/>
              </a:spcAft>
              <a:buNone/>
            </a:pPr>
            <a:r>
              <a:rPr lang="en-US" sz="1250" dirty="0">
                <a:solidFill>
                  <a:srgbClr val="C9CED8"/>
                </a:solidFill>
                <a:latin typeface="Calibri" pitchFamily="34" charset="0"/>
                <a:ea typeface="Calibri" pitchFamily="34" charset="-122"/>
                <a:cs typeface="Calibri" pitchFamily="34" charset="-120"/>
              </a:rPr>
              <a:t>Edge labels show the characters and the index range [a, b). Leaf ranges end at the shared index i.</a:t>
            </a:r>
            <a:endParaRPr lang="en-US" sz="1250" dirty="0"/>
          </a:p>
          <a:p>
            <a:pPr indent="0" marL="0">
              <a:spcAft>
                <a:spcPts val="800"/>
              </a:spcAft>
              <a:buNone/>
            </a:pPr>
            <a:r>
              <a:rPr lang="en-US" sz="1250" dirty="0">
                <a:solidFill>
                  <a:srgbClr val="C9CED8"/>
                </a:solidFill>
                <a:latin typeface="Calibri" pitchFamily="34" charset="0"/>
                <a:ea typeface="Calibri" pitchFamily="34" charset="-122"/>
                <a:cs typeface="Calibri" pitchFamily="34" charset="-120"/>
              </a:rPr>
              <a:t>Leaves are numbered by the start index of the suffix they spell.</a:t>
            </a:r>
            <a:endParaRPr lang="en-US" sz="1250" dirty="0"/>
          </a:p>
          <a:p>
            <a:pPr indent="0" marL="0">
              <a:spcAft>
                <a:spcPts val="800"/>
              </a:spcAft>
              <a:buNone/>
            </a:pPr>
            <a:r>
              <a:rPr lang="en-US" sz="1250" dirty="0">
                <a:solidFill>
                  <a:srgbClr val="C9CED8"/>
                </a:solidFill>
                <a:latin typeface="Calibri" pitchFamily="34" charset="0"/>
                <a:ea typeface="Calibri" pitchFamily="34" charset="-122"/>
                <a:cs typeface="Calibri" pitchFamily="34" charset="-120"/>
              </a:rPr>
              <a:t>ε marks an empty edge. A new leaf is empty until the index advances.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22262E"/>
          </a:solidFill>
          <a:ln w="12700">
            <a:solidFill>
              <a:srgbClr val="22262E"/>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Start</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Initial state</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Start</a:t>
            </a:r>
            <a:endParaRPr lang="en-US" sz="1200" dirty="0"/>
          </a:p>
        </p:txBody>
      </p:sp>
      <p:pic>
        <p:nvPicPr>
          <p:cNvPr id="6" name="Image 0" descr="Suffix tree after step 0">    </p:cNvPr>
          <p:cNvPicPr>
            <a:picLocks noChangeAspect="1"/>
          </p:cNvPicPr>
          <p:nvPr/>
        </p:nvPicPr>
        <p:blipFill>
          <a:blip r:embed="rId1"/>
          <a:stretch>
            <a:fillRect/>
          </a:stretch>
        </p:blipFill>
        <p:spPr>
          <a:xfrm>
            <a:off x="3719182" y="1417320"/>
            <a:ext cx="516917" cy="516917"/>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The tree is only the root R. The index, the remainder and the active length all start at 0.</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A61B1B"/>
          </a:solidFill>
          <a:ln w="12700">
            <a:solidFill>
              <a:srgbClr val="A61B1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2.i</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New leaf under "a" at the root</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1 of 13</a:t>
            </a:r>
            <a:endParaRPr lang="en-US" sz="1200" dirty="0"/>
          </a:p>
        </p:txBody>
      </p:sp>
      <p:pic>
        <p:nvPicPr>
          <p:cNvPr id="6" name="Image 0" descr="Suffix tree after step 1">    </p:cNvPr>
          <p:cNvPicPr>
            <a:picLocks noChangeAspect="1"/>
          </p:cNvPicPr>
          <p:nvPr/>
        </p:nvPicPr>
        <p:blipFill>
          <a:blip r:embed="rId1"/>
          <a:stretch>
            <a:fillRect/>
          </a:stretch>
        </p:blipFill>
        <p:spPr>
          <a:xfrm>
            <a:off x="3627961" y="1417320"/>
            <a:ext cx="699358" cy="1483180"/>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22262E"/>
          </a:solidFill>
          <a:ln w="12700">
            <a:solidFill>
              <a:srgbClr val="22262E"/>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No edge from the root starts with "a", so a new leaf is added there. Its range ends at the shared index i, so it grows automatically (Rule 1). The remainder was 0, so the index advances to 1. The active point resets to the root.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A61B1B"/>
          </a:solidFill>
          <a:ln w="12700">
            <a:solidFill>
              <a:srgbClr val="A61B1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2.i</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New leaf under "b" at the root</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2 of 13</a:t>
            </a:r>
            <a:endParaRPr lang="en-US" sz="1200" dirty="0"/>
          </a:p>
        </p:txBody>
      </p:sp>
      <p:pic>
        <p:nvPicPr>
          <p:cNvPr id="6" name="Image 0" descr="Suffix tree after step 2">    </p:cNvPr>
          <p:cNvPicPr>
            <a:picLocks noChangeAspect="1"/>
          </p:cNvPicPr>
          <p:nvPr/>
        </p:nvPicPr>
        <p:blipFill>
          <a:blip r:embed="rId1"/>
          <a:stretch>
            <a:fillRect/>
          </a:stretch>
        </p:blipFill>
        <p:spPr>
          <a:xfrm>
            <a:off x="3097530" y="1417320"/>
            <a:ext cx="1760220" cy="1483180"/>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22262E"/>
          </a:solidFill>
          <a:ln w="12700">
            <a:solidFill>
              <a:srgbClr val="22262E"/>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No edge from the root starts with "b", so a new leaf is added there. Its range ends at the shared index i, so it grows automatically (Rule 1). The remainder was 0, so the index advances to 2. The active point resets to the root.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A61B1B"/>
          </a:solidFill>
          <a:ln w="12700">
            <a:solidFill>
              <a:srgbClr val="A61B1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2.i</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New leaf under "c" at the root</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3 of 13</a:t>
            </a:r>
            <a:endParaRPr lang="en-US" sz="1200" dirty="0"/>
          </a:p>
        </p:txBody>
      </p:sp>
      <p:pic>
        <p:nvPicPr>
          <p:cNvPr id="6" name="Image 0" descr="Suffix tree after step 3">    </p:cNvPr>
          <p:cNvPicPr>
            <a:picLocks noChangeAspect="1"/>
          </p:cNvPicPr>
          <p:nvPr/>
        </p:nvPicPr>
        <p:blipFill>
          <a:blip r:embed="rId1"/>
          <a:stretch>
            <a:fillRect/>
          </a:stretch>
        </p:blipFill>
        <p:spPr>
          <a:xfrm>
            <a:off x="2565410" y="1417320"/>
            <a:ext cx="2824460" cy="1483180"/>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22262E"/>
          </a:solidFill>
          <a:ln w="12700">
            <a:solidFill>
              <a:srgbClr val="22262E"/>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No edge from the root starts with "c", so a new leaf is added there. Its range ends at the shared index i, so it grows automatically (Rule 1). The remainder was 0, so the index advances to 3. The active point resets to the root.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3B5BDB"/>
          </a:solidFill>
          <a:ln w="12700">
            <a:solidFill>
              <a:srgbClr val="3B5BD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3</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"a" already follows, so defer the insertion</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4 of 13</a:t>
            </a:r>
            <a:endParaRPr lang="en-US" sz="1200" dirty="0"/>
          </a:p>
        </p:txBody>
      </p:sp>
      <p:pic>
        <p:nvPicPr>
          <p:cNvPr id="6" name="Image 0" descr="Suffix tree after step 4">    </p:cNvPr>
          <p:cNvPicPr>
            <a:picLocks noChangeAspect="1"/>
          </p:cNvPicPr>
          <p:nvPr/>
        </p:nvPicPr>
        <p:blipFill>
          <a:blip r:embed="rId1"/>
          <a:stretch>
            <a:fillRect/>
          </a:stretch>
        </p:blipFill>
        <p:spPr>
          <a:xfrm>
            <a:off x="2556963" y="1417320"/>
            <a:ext cx="2841353" cy="1483180"/>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22262E"/>
          </a:solidFill>
          <a:ln w="12700">
            <a:solidFill>
              <a:srgbClr val="22262E"/>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a…, 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"a" already follows at the active point, so this suffix is already in the tree implicitly. The insertion is deferred. The remainder and the active length each rise by one, and the index advances to 4.</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3B5BDB"/>
          </a:solidFill>
          <a:ln w="12700">
            <a:solidFill>
              <a:srgbClr val="3B5BD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3</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"b" already follows, so defer the insertion</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5 of 13</a:t>
            </a:r>
            <a:endParaRPr lang="en-US" sz="1200" dirty="0"/>
          </a:p>
        </p:txBody>
      </p:sp>
      <p:pic>
        <p:nvPicPr>
          <p:cNvPr id="6" name="Image 0" descr="Suffix tree after step 5">    </p:cNvPr>
          <p:cNvPicPr>
            <a:picLocks noChangeAspect="1"/>
          </p:cNvPicPr>
          <p:nvPr/>
        </p:nvPicPr>
        <p:blipFill>
          <a:blip r:embed="rId1"/>
          <a:stretch>
            <a:fillRect/>
          </a:stretch>
        </p:blipFill>
        <p:spPr>
          <a:xfrm>
            <a:off x="2518110" y="1417320"/>
            <a:ext cx="2919060" cy="1483180"/>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D6E0F5"/>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22262E"/>
          </a:solidFill>
          <a:ln w="12700">
            <a:solidFill>
              <a:srgbClr val="22262E"/>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a…, 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a…, 2)</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"b" already follows at the active point, so this suffix is already in the tree implicitly. The insertion is deferred. The remainder and the active length each rise by one, and the index advances to 5.</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C2570C"/>
          </a:solidFill>
          <a:ln w="12700">
            <a:solidFill>
              <a:srgbClr val="C2570C"/>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2.ii</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Split leaf edge "abcab" after 2 characters, since "c" ≠ "a"</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6 of 13</a:t>
            </a:r>
            <a:endParaRPr lang="en-US" sz="1200" dirty="0"/>
          </a:p>
        </p:txBody>
      </p:sp>
      <p:pic>
        <p:nvPicPr>
          <p:cNvPr id="6" name="Image 0" descr="Suffix tree after step 6">    </p:cNvPr>
          <p:cNvPicPr>
            <a:picLocks noChangeAspect="1"/>
          </p:cNvPicPr>
          <p:nvPr/>
        </p:nvPicPr>
        <p:blipFill>
          <a:blip r:embed="rId1"/>
          <a:stretch>
            <a:fillRect/>
          </a:stretch>
        </p:blipFill>
        <p:spPr>
          <a:xfrm>
            <a:off x="2237691" y="1417320"/>
            <a:ext cx="3479898" cy="2466335"/>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D6E0F5"/>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D6E0F5"/>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22262E"/>
          </a:solidFill>
          <a:ln w="12700">
            <a:solidFill>
              <a:srgbClr val="22262E"/>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a…, 2)</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 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The edge "abcab" matches for 2 characters, then has "c" where the next character is "a". The edge is cut at that point. The lower part keeps the old end, so it is still a leaf. A new leaf is added for "a". The remainder was 2, so it drops to 1 and the index stays at 5. The new leaf is empty (ε) until the index advances. The active point resets to the root.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C2570C"/>
          </a:solidFill>
          <a:ln w="12700">
            <a:solidFill>
              <a:srgbClr val="C2570C"/>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2.ii</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Split leaf edge "bcab" after 1 character, since "c" ≠ "a"</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7 of 13</a:t>
            </a:r>
            <a:endParaRPr lang="en-US" sz="1200" dirty="0"/>
          </a:p>
        </p:txBody>
      </p:sp>
      <p:pic>
        <p:nvPicPr>
          <p:cNvPr id="6" name="Image 0" descr="Suffix tree after step 7">    </p:cNvPr>
          <p:cNvPicPr>
            <a:picLocks noChangeAspect="1"/>
          </p:cNvPicPr>
          <p:nvPr/>
        </p:nvPicPr>
        <p:blipFill>
          <a:blip r:embed="rId1"/>
          <a:stretch>
            <a:fillRect/>
          </a:stretch>
        </p:blipFill>
        <p:spPr>
          <a:xfrm>
            <a:off x="1626175" y="1417320"/>
            <a:ext cx="4702929" cy="2466335"/>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D6E0F5"/>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22262E"/>
          </a:solidFill>
          <a:ln w="12700">
            <a:solidFill>
              <a:srgbClr val="22262E"/>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 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The edge "bcab" matches for 1 character, then has "c" where the next character is "a". The edge is cut at that point. The lower part keeps the old end, so it is still a leaf. A new leaf is added for "a". The remainder was 1, so it drops to 0 and the index stays at 5. The new leaf is empty (ε) until the index advances. The active point resets to the root.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3B5BDB"/>
          </a:solidFill>
          <a:ln w="12700">
            <a:solidFill>
              <a:srgbClr val="3B5BD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3</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"a" already follows, so defer the insertion</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8 of 13</a:t>
            </a:r>
            <a:endParaRPr lang="en-US" sz="1200" dirty="0"/>
          </a:p>
        </p:txBody>
      </p:sp>
      <p:pic>
        <p:nvPicPr>
          <p:cNvPr id="6" name="Image 0" descr="Suffix tree after step 8">    </p:cNvPr>
          <p:cNvPicPr>
            <a:picLocks noChangeAspect="1"/>
          </p:cNvPicPr>
          <p:nvPr/>
        </p:nvPicPr>
        <p:blipFill>
          <a:blip r:embed="rId1"/>
          <a:stretch>
            <a:fillRect/>
          </a:stretch>
        </p:blipFill>
        <p:spPr>
          <a:xfrm>
            <a:off x="1626175" y="1417320"/>
            <a:ext cx="4702929" cy="2466335"/>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22262E"/>
          </a:solidFill>
          <a:ln w="12700">
            <a:solidFill>
              <a:srgbClr val="22262E"/>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a…, 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"a" already follows at the active point, so this suffix is already in the tree implicitly. The insertion is deferred. The remainder and the active length each rise by one, and the index advances to 6.</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C2570C"/>
          </a:solidFill>
          <a:ln w="12700">
            <a:solidFill>
              <a:srgbClr val="C2570C"/>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2.ii</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Split internal edge "ab" after 1 character, since "b" ≠ "a"</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9 of 13</a:t>
            </a:r>
            <a:endParaRPr lang="en-US" sz="1200" dirty="0"/>
          </a:p>
        </p:txBody>
      </p:sp>
      <p:pic>
        <p:nvPicPr>
          <p:cNvPr id="6" name="Image 0" descr="Suffix tree after step 9">    </p:cNvPr>
          <p:cNvPicPr>
            <a:picLocks noChangeAspect="1"/>
          </p:cNvPicPr>
          <p:nvPr/>
        </p:nvPicPr>
        <p:blipFill>
          <a:blip r:embed="rId1"/>
          <a:stretch>
            <a:fillRect/>
          </a:stretch>
        </p:blipFill>
        <p:spPr>
          <a:xfrm>
            <a:off x="1643068" y="1417320"/>
            <a:ext cx="4669144" cy="3449491"/>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D6E0F5"/>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22262E"/>
          </a:solidFill>
          <a:ln w="12700">
            <a:solidFill>
              <a:srgbClr val="22262E"/>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a…, 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The edge "ab" matches for 1 character, then has "b" where the next character is "a". The edge is cut at that point. The lower part keeps the old end and takes the old children. A new leaf is added for "a". The remainder was 1, so it drops to 0 and the index stays at 6. The new leaf is empty (ε) until the index advances. The active point resets to the root.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3B5BDB"/>
          </a:solidFill>
          <a:ln w="12700">
            <a:solidFill>
              <a:srgbClr val="3B5BD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3</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"a" already follows, so defer the insertion</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10 of 13</a:t>
            </a:r>
            <a:endParaRPr lang="en-US" sz="1200" dirty="0"/>
          </a:p>
        </p:txBody>
      </p:sp>
      <p:pic>
        <p:nvPicPr>
          <p:cNvPr id="6" name="Image 0" descr="Suffix tree after step 10">    </p:cNvPr>
          <p:cNvPicPr>
            <a:picLocks noChangeAspect="1"/>
          </p:cNvPicPr>
          <p:nvPr/>
        </p:nvPicPr>
        <p:blipFill>
          <a:blip r:embed="rId1"/>
          <a:stretch>
            <a:fillRect/>
          </a:stretch>
        </p:blipFill>
        <p:spPr>
          <a:xfrm>
            <a:off x="1643068" y="1417320"/>
            <a:ext cx="4669144" cy="3449491"/>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22262E"/>
          </a:solidFill>
          <a:ln w="12700">
            <a:solidFill>
              <a:srgbClr val="22262E"/>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FFFFFF"/>
          </a:solidFill>
          <a:ln w="12700">
            <a:solidFill>
              <a:srgbClr val="D1D5DB"/>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a…, 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"a" already follows at the active point, so this suffix is already in the tree implicitly. The insertion is deferred. The remainder and the active length each rise by one, and the index advances to 7.</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3B5BDB"/>
          </a:solidFill>
          <a:ln w="12700">
            <a:solidFill>
              <a:srgbClr val="3B5BD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 down</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Edge "a" is not longer than l, so move below it</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11 of 13</a:t>
            </a:r>
            <a:endParaRPr lang="en-US" sz="1200" dirty="0"/>
          </a:p>
        </p:txBody>
      </p:sp>
      <p:pic>
        <p:nvPicPr>
          <p:cNvPr id="6" name="Image 0" descr="Suffix tree after step 11">    </p:cNvPr>
          <p:cNvPicPr>
            <a:picLocks noChangeAspect="1"/>
          </p:cNvPicPr>
          <p:nvPr/>
        </p:nvPicPr>
        <p:blipFill>
          <a:blip r:embed="rId1"/>
          <a:stretch>
            <a:fillRect/>
          </a:stretch>
        </p:blipFill>
        <p:spPr>
          <a:xfrm>
            <a:off x="1643068" y="1417320"/>
            <a:ext cx="4669144" cy="3449491"/>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D6E0F5"/>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22262E"/>
          </a:solidFill>
          <a:ln w="12700">
            <a:solidFill>
              <a:srgbClr val="22262E"/>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a…, 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(a,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The active length l = 1 reaches the end of edge "a", so the active parent moves below it. The active length drops by the edge's length. Nothing is added to the tree.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A61B1B"/>
          </a:solidFill>
          <a:ln w="12700">
            <a:solidFill>
              <a:srgbClr val="A61B1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2.i</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New leaf under "$" at an internal node</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12 of 13</a:t>
            </a:r>
            <a:endParaRPr lang="en-US" sz="1200" dirty="0"/>
          </a:p>
        </p:txBody>
      </p:sp>
      <p:pic>
        <p:nvPicPr>
          <p:cNvPr id="6" name="Image 0" descr="Suffix tree after step 12">    </p:cNvPr>
          <p:cNvPicPr>
            <a:picLocks noChangeAspect="1"/>
          </p:cNvPicPr>
          <p:nvPr/>
        </p:nvPicPr>
        <p:blipFill>
          <a:blip r:embed="rId1"/>
          <a:stretch>
            <a:fillRect/>
          </a:stretch>
        </p:blipFill>
        <p:spPr>
          <a:xfrm>
            <a:off x="1067027" y="1417320"/>
            <a:ext cx="5821227" cy="3449491"/>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D6E0F5"/>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22262E"/>
          </a:solidFill>
          <a:ln w="12700">
            <a:solidFill>
              <a:srgbClr val="22262E"/>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(a,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No edge from the node for "a" starts with "$", so a new leaf is added there. Its range ends at the shared index i, so it grows automatically (Rule 1). The remainder was 1, so it drops to 0 and the index stays at 7. The new leaf is empty (ε) until the index advances. The active point resets to the root.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1325880" cy="420624"/>
          </a:xfrm>
          <a:prstGeom prst="roundRect">
            <a:avLst>
              <a:gd name="adj" fmla="val 17391"/>
            </a:avLst>
          </a:prstGeom>
          <a:solidFill>
            <a:srgbClr val="A61B1B"/>
          </a:solidFill>
          <a:ln w="12700">
            <a:solidFill>
              <a:srgbClr val="A61B1B"/>
            </a:solidFill>
            <a:prstDash val="solid"/>
          </a:ln>
        </p:spPr>
      </p:sp>
      <p:sp>
        <p:nvSpPr>
          <p:cNvPr id="3" name="Text 1"/>
          <p:cNvSpPr txBox="1"/>
          <p:nvPr/>
        </p:nvSpPr>
        <p:spPr>
          <a:xfrm>
            <a:off x="457200" y="457200"/>
            <a:ext cx="13258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Rule 2.i</a:t>
            </a:r>
            <a:endParaRPr lang="en-US" sz="1400" dirty="0"/>
          </a:p>
        </p:txBody>
      </p:sp>
      <p:sp>
        <p:nvSpPr>
          <p:cNvPr id="4" name="Text 2"/>
          <p:cNvSpPr txBox="1"/>
          <p:nvPr/>
        </p:nvSpPr>
        <p:spPr>
          <a:xfrm>
            <a:off x="1965960" y="347472"/>
            <a:ext cx="8412480" cy="640080"/>
          </a:xfrm>
          <a:prstGeom prst="rect">
            <a:avLst/>
          </a:prstGeom>
          <a:noFill/>
          <a:ln/>
        </p:spPr>
        <p:txBody>
          <a:bodyPr wrap="square" lIns="0" tIns="0" rIns="0" bIns="0" rtlCol="0" anchor="ctr">
            <a:normAutofit/>
          </a:bodyPr>
          <a:lstStyle/>
          <a:p>
            <a:pPr indent="0" marL="0">
              <a:buNone/>
            </a:pPr>
            <a:r>
              <a:rPr lang="en-US" sz="2400" b="1" dirty="0">
                <a:solidFill>
                  <a:srgbClr val="22262E"/>
                </a:solidFill>
                <a:latin typeface="Cambria" pitchFamily="34" charset="0"/>
                <a:ea typeface="Cambria" pitchFamily="34" charset="-122"/>
                <a:cs typeface="Cambria" pitchFamily="34" charset="-120"/>
              </a:rPr>
              <a:t>New leaf under "$" at the root</a:t>
            </a:r>
            <a:endParaRPr lang="en-US" sz="2400" dirty="0"/>
          </a:p>
        </p:txBody>
      </p:sp>
      <p:sp>
        <p:nvSpPr>
          <p:cNvPr id="5" name="Text 3"/>
          <p:cNvSpPr txBox="1"/>
          <p:nvPr/>
        </p:nvSpPr>
        <p:spPr>
          <a:xfrm>
            <a:off x="10332720" y="457200"/>
            <a:ext cx="1399032" cy="420624"/>
          </a:xfrm>
          <a:prstGeom prst="rect">
            <a:avLst/>
          </a:prstGeom>
          <a:noFill/>
          <a:ln/>
        </p:spPr>
        <p:txBody>
          <a:bodyPr wrap="square" lIns="0" tIns="0" rIns="0" bIns="0" rtlCol="0" anchor="ctr"/>
          <a:lstStyle/>
          <a:p>
            <a:pPr algn="r" indent="0" marL="0">
              <a:buNone/>
            </a:pPr>
            <a:r>
              <a:rPr lang="en-US" sz="1200" dirty="0">
                <a:solidFill>
                  <a:srgbClr val="6B7280"/>
                </a:solidFill>
                <a:latin typeface="Calibri" pitchFamily="34" charset="0"/>
                <a:ea typeface="Calibri" pitchFamily="34" charset="-122"/>
                <a:cs typeface="Calibri" pitchFamily="34" charset="-120"/>
              </a:rPr>
              <a:t>Step 13 of 13</a:t>
            </a:r>
            <a:endParaRPr lang="en-US" sz="1200" dirty="0"/>
          </a:p>
        </p:txBody>
      </p:sp>
      <p:pic>
        <p:nvPicPr>
          <p:cNvPr id="6" name="Image 0" descr="Suffix tree after step 13">    </p:cNvPr>
          <p:cNvPicPr>
            <a:picLocks noChangeAspect="1"/>
          </p:cNvPicPr>
          <p:nvPr/>
        </p:nvPicPr>
        <p:blipFill>
          <a:blip r:embed="rId1"/>
          <a:stretch>
            <a:fillRect/>
          </a:stretch>
        </p:blipFill>
        <p:spPr>
          <a:xfrm>
            <a:off x="457200" y="1417320"/>
            <a:ext cx="7040880" cy="3449491"/>
          </a:xfrm>
          <a:prstGeom prst="rect">
            <a:avLst/>
          </a:prstGeom>
        </p:spPr>
      </p:pic>
      <p:sp>
        <p:nvSpPr>
          <p:cNvPr id="7" name="Shape 4"/>
          <p:cNvSpPr/>
          <p:nvPr/>
        </p:nvSpPr>
        <p:spPr>
          <a:xfrm>
            <a:off x="7863840" y="1325880"/>
            <a:ext cx="3867912" cy="5074920"/>
          </a:xfrm>
          <a:prstGeom prst="roundRect">
            <a:avLst>
              <a:gd name="adj" fmla="val 1418"/>
            </a:avLst>
          </a:prstGeom>
          <a:solidFill>
            <a:srgbClr val="F3F4F6"/>
          </a:solidFill>
          <a:ln w="12700">
            <a:solidFill>
              <a:srgbClr val="F3F4F6"/>
            </a:solidFill>
            <a:prstDash val="solid"/>
          </a:ln>
        </p:spPr>
      </p:sp>
      <p:sp>
        <p:nvSpPr>
          <p:cNvPr id="8" name="Text 5"/>
          <p:cNvSpPr txBox="1"/>
          <p:nvPr/>
        </p:nvSpPr>
        <p:spPr>
          <a:xfrm>
            <a:off x="8092440" y="1508760"/>
            <a:ext cx="3410712" cy="2286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String</a:t>
            </a:r>
            <a:endParaRPr lang="en-US" sz="1100" dirty="0"/>
          </a:p>
        </p:txBody>
      </p:sp>
      <p:sp>
        <p:nvSpPr>
          <p:cNvPr id="9" name="Shape 6"/>
          <p:cNvSpPr/>
          <p:nvPr/>
        </p:nvSpPr>
        <p:spPr>
          <a:xfrm>
            <a:off x="8092440" y="1783080"/>
            <a:ext cx="402336" cy="402336"/>
          </a:xfrm>
          <a:prstGeom prst="rect">
            <a:avLst/>
          </a:prstGeom>
          <a:solidFill>
            <a:srgbClr val="FFFFFF"/>
          </a:solidFill>
          <a:ln w="12700">
            <a:solidFill>
              <a:srgbClr val="D1D5DB"/>
            </a:solidFill>
            <a:prstDash val="solid"/>
          </a:ln>
        </p:spPr>
      </p:sp>
      <p:sp>
        <p:nvSpPr>
          <p:cNvPr id="10" name="Text 7"/>
          <p:cNvSpPr txBox="1"/>
          <p:nvPr/>
        </p:nvSpPr>
        <p:spPr>
          <a:xfrm>
            <a:off x="809244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11" name="Text 8"/>
          <p:cNvSpPr txBox="1"/>
          <p:nvPr/>
        </p:nvSpPr>
        <p:spPr>
          <a:xfrm>
            <a:off x="809244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0</a:t>
            </a:r>
            <a:endParaRPr lang="en-US" sz="900" dirty="0"/>
          </a:p>
        </p:txBody>
      </p:sp>
      <p:sp>
        <p:nvSpPr>
          <p:cNvPr id="12" name="Shape 9"/>
          <p:cNvSpPr/>
          <p:nvPr/>
        </p:nvSpPr>
        <p:spPr>
          <a:xfrm>
            <a:off x="8540496" y="1783080"/>
            <a:ext cx="402336" cy="402336"/>
          </a:xfrm>
          <a:prstGeom prst="rect">
            <a:avLst/>
          </a:prstGeom>
          <a:solidFill>
            <a:srgbClr val="FFFFFF"/>
          </a:solidFill>
          <a:ln w="12700">
            <a:solidFill>
              <a:srgbClr val="D1D5DB"/>
            </a:solidFill>
            <a:prstDash val="solid"/>
          </a:ln>
        </p:spPr>
      </p:sp>
      <p:sp>
        <p:nvSpPr>
          <p:cNvPr id="13" name="Text 10"/>
          <p:cNvSpPr txBox="1"/>
          <p:nvPr/>
        </p:nvSpPr>
        <p:spPr>
          <a:xfrm>
            <a:off x="854049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14" name="Text 11"/>
          <p:cNvSpPr txBox="1"/>
          <p:nvPr/>
        </p:nvSpPr>
        <p:spPr>
          <a:xfrm>
            <a:off x="854049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15" name="Shape 12"/>
          <p:cNvSpPr/>
          <p:nvPr/>
        </p:nvSpPr>
        <p:spPr>
          <a:xfrm>
            <a:off x="8988552" y="1783080"/>
            <a:ext cx="402336" cy="402336"/>
          </a:xfrm>
          <a:prstGeom prst="rect">
            <a:avLst/>
          </a:prstGeom>
          <a:solidFill>
            <a:srgbClr val="FFFFFF"/>
          </a:solidFill>
          <a:ln w="12700">
            <a:solidFill>
              <a:srgbClr val="D1D5DB"/>
            </a:solidFill>
            <a:prstDash val="solid"/>
          </a:ln>
        </p:spPr>
      </p:sp>
      <p:sp>
        <p:nvSpPr>
          <p:cNvPr id="16" name="Text 13"/>
          <p:cNvSpPr txBox="1"/>
          <p:nvPr/>
        </p:nvSpPr>
        <p:spPr>
          <a:xfrm>
            <a:off x="8988552"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c</a:t>
            </a:r>
            <a:endParaRPr lang="en-US" sz="1600" dirty="0"/>
          </a:p>
        </p:txBody>
      </p:sp>
      <p:sp>
        <p:nvSpPr>
          <p:cNvPr id="17" name="Text 14"/>
          <p:cNvSpPr txBox="1"/>
          <p:nvPr/>
        </p:nvSpPr>
        <p:spPr>
          <a:xfrm>
            <a:off x="898855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18" name="Shape 15"/>
          <p:cNvSpPr/>
          <p:nvPr/>
        </p:nvSpPr>
        <p:spPr>
          <a:xfrm>
            <a:off x="9436608" y="1783080"/>
            <a:ext cx="402336" cy="402336"/>
          </a:xfrm>
          <a:prstGeom prst="rect">
            <a:avLst/>
          </a:prstGeom>
          <a:solidFill>
            <a:srgbClr val="FFFFFF"/>
          </a:solidFill>
          <a:ln w="12700">
            <a:solidFill>
              <a:srgbClr val="D1D5DB"/>
            </a:solidFill>
            <a:prstDash val="solid"/>
          </a:ln>
        </p:spPr>
      </p:sp>
      <p:sp>
        <p:nvSpPr>
          <p:cNvPr id="19" name="Text 16"/>
          <p:cNvSpPr txBox="1"/>
          <p:nvPr/>
        </p:nvSpPr>
        <p:spPr>
          <a:xfrm>
            <a:off x="9436608"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0" name="Text 17"/>
          <p:cNvSpPr txBox="1"/>
          <p:nvPr/>
        </p:nvSpPr>
        <p:spPr>
          <a:xfrm>
            <a:off x="9436608"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21" name="Shape 18"/>
          <p:cNvSpPr/>
          <p:nvPr/>
        </p:nvSpPr>
        <p:spPr>
          <a:xfrm>
            <a:off x="9884664" y="1783080"/>
            <a:ext cx="402336" cy="402336"/>
          </a:xfrm>
          <a:prstGeom prst="rect">
            <a:avLst/>
          </a:prstGeom>
          <a:solidFill>
            <a:srgbClr val="FFFFFF"/>
          </a:solidFill>
          <a:ln w="12700">
            <a:solidFill>
              <a:srgbClr val="D1D5DB"/>
            </a:solidFill>
            <a:prstDash val="solid"/>
          </a:ln>
        </p:spPr>
      </p:sp>
      <p:sp>
        <p:nvSpPr>
          <p:cNvPr id="22" name="Text 19"/>
          <p:cNvSpPr txBox="1"/>
          <p:nvPr/>
        </p:nvSpPr>
        <p:spPr>
          <a:xfrm>
            <a:off x="9884664"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b</a:t>
            </a:r>
            <a:endParaRPr lang="en-US" sz="1600" dirty="0"/>
          </a:p>
        </p:txBody>
      </p:sp>
      <p:sp>
        <p:nvSpPr>
          <p:cNvPr id="23" name="Text 20"/>
          <p:cNvSpPr txBox="1"/>
          <p:nvPr/>
        </p:nvSpPr>
        <p:spPr>
          <a:xfrm>
            <a:off x="9884664"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24" name="Shape 21"/>
          <p:cNvSpPr/>
          <p:nvPr/>
        </p:nvSpPr>
        <p:spPr>
          <a:xfrm>
            <a:off x="10332720" y="1783080"/>
            <a:ext cx="402336" cy="402336"/>
          </a:xfrm>
          <a:prstGeom prst="rect">
            <a:avLst/>
          </a:prstGeom>
          <a:solidFill>
            <a:srgbClr val="FFFFFF"/>
          </a:solidFill>
          <a:ln w="12700">
            <a:solidFill>
              <a:srgbClr val="D1D5DB"/>
            </a:solidFill>
            <a:prstDash val="solid"/>
          </a:ln>
        </p:spPr>
      </p:sp>
      <p:sp>
        <p:nvSpPr>
          <p:cNvPr id="25" name="Text 22"/>
          <p:cNvSpPr txBox="1"/>
          <p:nvPr/>
        </p:nvSpPr>
        <p:spPr>
          <a:xfrm>
            <a:off x="10332720"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6" name="Text 23"/>
          <p:cNvSpPr txBox="1"/>
          <p:nvPr/>
        </p:nvSpPr>
        <p:spPr>
          <a:xfrm>
            <a:off x="10332720"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27" name="Shape 24"/>
          <p:cNvSpPr/>
          <p:nvPr/>
        </p:nvSpPr>
        <p:spPr>
          <a:xfrm>
            <a:off x="10780776" y="1783080"/>
            <a:ext cx="402336" cy="402336"/>
          </a:xfrm>
          <a:prstGeom prst="rect">
            <a:avLst/>
          </a:prstGeom>
          <a:solidFill>
            <a:srgbClr val="FFFFFF"/>
          </a:solidFill>
          <a:ln w="12700">
            <a:solidFill>
              <a:srgbClr val="D1D5DB"/>
            </a:solidFill>
            <a:prstDash val="solid"/>
          </a:ln>
        </p:spPr>
      </p:sp>
      <p:sp>
        <p:nvSpPr>
          <p:cNvPr id="28" name="Text 25"/>
          <p:cNvSpPr txBox="1"/>
          <p:nvPr/>
        </p:nvSpPr>
        <p:spPr>
          <a:xfrm>
            <a:off x="10780776" y="1783080"/>
            <a:ext cx="402336" cy="402336"/>
          </a:xfrm>
          <a:prstGeom prst="rect">
            <a:avLst/>
          </a:prstGeom>
          <a:noFill/>
          <a:ln/>
        </p:spPr>
        <p:txBody>
          <a:bodyPr wrap="square" lIns="0" tIns="0" rIns="0" bIns="0" rtlCol="0" anchor="ctr"/>
          <a:lstStyle/>
          <a:p>
            <a:pPr algn="ctr" indent="0" marL="0">
              <a:buNone/>
            </a:pPr>
            <a:r>
              <a:rPr lang="en-US" sz="1600" b="1" dirty="0">
                <a:solidFill>
                  <a:srgbClr val="22262E"/>
                </a:solidFill>
                <a:latin typeface="Courier New" pitchFamily="34" charset="0"/>
                <a:ea typeface="Courier New" pitchFamily="34" charset="-122"/>
                <a:cs typeface="Courier New" pitchFamily="34" charset="-120"/>
              </a:rPr>
              <a:t>a</a:t>
            </a:r>
            <a:endParaRPr lang="en-US" sz="1600" dirty="0"/>
          </a:p>
        </p:txBody>
      </p:sp>
      <p:sp>
        <p:nvSpPr>
          <p:cNvPr id="29" name="Text 26"/>
          <p:cNvSpPr txBox="1"/>
          <p:nvPr/>
        </p:nvSpPr>
        <p:spPr>
          <a:xfrm>
            <a:off x="10780776"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0" name="Shape 27"/>
          <p:cNvSpPr/>
          <p:nvPr/>
        </p:nvSpPr>
        <p:spPr>
          <a:xfrm>
            <a:off x="11228832" y="1783080"/>
            <a:ext cx="402336" cy="402336"/>
          </a:xfrm>
          <a:prstGeom prst="rect">
            <a:avLst/>
          </a:prstGeom>
          <a:solidFill>
            <a:srgbClr val="22262E"/>
          </a:solidFill>
          <a:ln w="12700">
            <a:solidFill>
              <a:srgbClr val="22262E"/>
            </a:solidFill>
            <a:prstDash val="solid"/>
          </a:ln>
        </p:spPr>
      </p:sp>
      <p:sp>
        <p:nvSpPr>
          <p:cNvPr id="31" name="Text 28"/>
          <p:cNvSpPr txBox="1"/>
          <p:nvPr/>
        </p:nvSpPr>
        <p:spPr>
          <a:xfrm>
            <a:off x="11228832" y="17830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32" name="Text 29"/>
          <p:cNvSpPr txBox="1"/>
          <p:nvPr/>
        </p:nvSpPr>
        <p:spPr>
          <a:xfrm>
            <a:off x="11228832" y="2203704"/>
            <a:ext cx="402336" cy="20116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3" name="Shape 30"/>
          <p:cNvSpPr/>
          <p:nvPr/>
        </p:nvSpPr>
        <p:spPr>
          <a:xfrm>
            <a:off x="8092440" y="2532888"/>
            <a:ext cx="128016" cy="128016"/>
          </a:xfrm>
          <a:prstGeom prst="rect">
            <a:avLst/>
          </a:prstGeom>
          <a:solidFill>
            <a:srgbClr val="22262E"/>
          </a:solidFill>
          <a:ln w="9525">
            <a:solidFill>
              <a:srgbClr val="22262E"/>
            </a:solidFill>
            <a:prstDash val="solid"/>
          </a:ln>
        </p:spPr>
      </p:sp>
      <p:sp>
        <p:nvSpPr>
          <p:cNvPr id="34" name="Text 31"/>
          <p:cNvSpPr txBox="1"/>
          <p:nvPr/>
        </p:nvSpPr>
        <p:spPr>
          <a:xfrm>
            <a:off x="82753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current character</a:t>
            </a:r>
            <a:endParaRPr lang="en-US" sz="1000" dirty="0"/>
          </a:p>
        </p:txBody>
      </p:sp>
      <p:sp>
        <p:nvSpPr>
          <p:cNvPr id="35" name="Shape 32"/>
          <p:cNvSpPr/>
          <p:nvPr/>
        </p:nvSpPr>
        <p:spPr>
          <a:xfrm>
            <a:off x="9692640" y="2532888"/>
            <a:ext cx="128016" cy="128016"/>
          </a:xfrm>
          <a:prstGeom prst="rect">
            <a:avLst/>
          </a:prstGeom>
          <a:solidFill>
            <a:srgbClr val="D6E0F5"/>
          </a:solidFill>
          <a:ln w="9525">
            <a:solidFill>
              <a:srgbClr val="D1D5DB"/>
            </a:solidFill>
            <a:prstDash val="solid"/>
          </a:ln>
        </p:spPr>
      </p:sp>
      <p:sp>
        <p:nvSpPr>
          <p:cNvPr id="36" name="Text 33"/>
          <p:cNvSpPr txBox="1"/>
          <p:nvPr/>
        </p:nvSpPr>
        <p:spPr>
          <a:xfrm>
            <a:off x="9875520" y="2496312"/>
            <a:ext cx="13716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pending suffix</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092440" y="2834640"/>
          <a:ext cx="3410712" cy="914400"/>
        </p:xfrm>
        <a:graphic>
          <a:graphicData uri="http://schemas.openxmlformats.org/drawingml/2006/table">
            <a:tbl>
              <a:tblPr/>
              <a:tblGrid>
                <a:gridCol w="1325880"/>
                <a:gridCol w="1042416"/>
                <a:gridCol w="1042416"/>
              </a:tblGrid>
              <a:tr h="274320">
                <a:tc>
                  <a:txBody>
                    <a:bodyPr/>
                    <a:lstStyle/>
                    <a:p>
                      <a:pPr indent="0" marL="0">
                        <a:buNone/>
                      </a:pP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Before</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After</a:t>
                      </a:r>
                      <a:endParaRPr lang="en-US" sz="105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Index i'</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length l</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22262E"/>
                          </a:solidFill>
                          <a:latin typeface="Calibri" pitchFamily="34" charset="0"/>
                          <a:ea typeface="Calibri" pitchFamily="34" charset="-122"/>
                          <a:cs typeface="Calibri" pitchFamily="34" charset="-120"/>
                        </a:rPr>
                        <a:t>Active point</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62E"/>
                          </a:solidFill>
                          <a:latin typeface="Calibri" pitchFamily="34" charset="0"/>
                          <a:ea typeface="Calibri" pitchFamily="34" charset="-122"/>
                          <a:cs typeface="Calibri" pitchFamily="34" charset="-120"/>
                        </a:rPr>
                        <a:t>(R, –, 0)</a:t>
                      </a:r>
                      <a:endParaRPr lang="en-US" sz="1200" dirty="0">
                        <a:latin typeface="Calibri" charset="0"/>
                        <a:ea typeface="Calibri" charset="0"/>
                        <a:cs typeface="Calibri" charset="0"/>
                      </a:endParaRPr>
                    </a:p>
                  </a:txBody>
                  <a:tcPr marL="73152" marR="73152" marT="27432" marB="2743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38" name="Text 34"/>
          <p:cNvSpPr txBox="1"/>
          <p:nvPr/>
        </p:nvSpPr>
        <p:spPr>
          <a:xfrm>
            <a:off x="8092440" y="4389120"/>
            <a:ext cx="3410712"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What happens</a:t>
            </a:r>
            <a:endParaRPr lang="en-US" sz="1100" dirty="0"/>
          </a:p>
        </p:txBody>
      </p:sp>
      <p:sp>
        <p:nvSpPr>
          <p:cNvPr id="39" name="Text 35"/>
          <p:cNvSpPr txBox="1"/>
          <p:nvPr/>
        </p:nvSpPr>
        <p:spPr>
          <a:xfrm>
            <a:off x="8092440" y="4663440"/>
            <a:ext cx="3410712" cy="1600200"/>
          </a:xfrm>
          <a:prstGeom prst="rect">
            <a:avLst/>
          </a:prstGeom>
          <a:noFill/>
          <a:ln/>
        </p:spPr>
        <p:txBody>
          <a:bodyPr wrap="square" lIns="0" tIns="0" rIns="0" bIns="0" rtlCol="0" anchor="t"/>
          <a:lstStyle/>
          <a:p>
            <a:pPr indent="0" marL="0">
              <a:buNone/>
            </a:pPr>
            <a:r>
              <a:rPr lang="en-US" sz="1250" dirty="0">
                <a:solidFill>
                  <a:srgbClr val="22262E"/>
                </a:solidFill>
                <a:latin typeface="Calibri" pitchFamily="34" charset="0"/>
                <a:ea typeface="Calibri" pitchFamily="34" charset="-122"/>
                <a:cs typeface="Calibri" pitchFamily="34" charset="-120"/>
              </a:rPr>
              <a:t>No edge from the root starts with "$", so a new leaf is added there. Its range ends at the shared index i, so it grows automatically (Rule 1). The remainder was 0, so the index advances to 8. The active point resets to the root. Every suffix of abcabaa$ now ends at its own leaf.</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Ukkonen walkthrough for abcabaa$</dc:title>
  <dc:subject>PptxGenJS Presentation</dc:subject>
  <dc:creator>PptxGenJS</dc:creator>
  <cp:lastModifiedBy>PptxGenJS</cp:lastModifiedBy>
  <cp:revision>1</cp:revision>
  <dcterms:created xsi:type="dcterms:W3CDTF">2026-09-30T11:16:27Z</dcterms:created>
  <dcterms:modified xsi:type="dcterms:W3CDTF">2026-09-30T11:16:27Z</dcterms:modified>
</cp:coreProperties>
</file>